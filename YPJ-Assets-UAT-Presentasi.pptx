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Pembukaan. Sampaikan tujuan sesi: memperkenalkan YPJ Assets dan menyepakati rencana UAT. Seluruh tampilan memakai data demo.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Sesi berlangsung sekitar 30–40 menit termasuk demo singkat dan tanya jawab.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"Tantangan umum" adalah gambaran umum pengelolaan aset sekolah; sesuaikan dengan kondisi nyata YPJ saat menyampaikan.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Ini halaman Dasbor yang sama di tiga ukuran layar. Menu samping berubah menjadi tombol menu di HP.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Dua belas kemampuan utama. Semuanya akan terlihat pada alur end-to-end berikut.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Hak akses dibatasi per peran dan per kampus. Pimpinan melihat semuanya tanpa dapat mengubah data.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Peta alur. Tiap perjalanan dijelaskan pada slide berikut dengan tampilan nyata.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Ini gerbang akuntabilitas: tidak ada peminjaman atau serah terima kepada pengguna yang belum menandatangani. Pimpinan (hanya-lihat) tidak diminta menandatangani.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Tunjukkan daftar aset dengan filter kampus/kategori/status, lalu pengalaman guru menerima aset di HP. Aset hanya berpindah pemilik setelah penerima mengonfirmasi.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Kerusakan pada peminjaman juga otomatis membuka laporan kerusakan saat pengembalian.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Guru cukup mengisi jumlah laptop/iPad dan waktunya; ICT memilih unit yang benar-benar bebas. Aturan bawaan: ajukan H-1 sampai H-14, tidak pada hari libur, laptop/iPad tetap di kampus, foto otomatis dikecilkan ≤ 50 KB.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 kalender: slot merah berasal dari jadwal tetap kelas; slot hijau bisa dipesan di luar jadwal tetap.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Maksimal 2 perangkat per siswa dan satu MAC address hanya dapat didaftarkan sekali. Formulir yang sudah ditandatangani dapat dicetak/PDF.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Nilai ditampilkan dalam Rupiah. Akun pimpinan dapat melihat semua kampus.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Detail aset: informasi singkat, tab kepemilikan, kerusakan, peminjaman, tombol laporkan kerusakan / alihkan / edit.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Tabel ini usulan awal. Hasil UAT belum ada — kolom Lulus dikosongkan untuk diisi saat pengujian.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Angka 71 berasal dari menjalankan seluruh tes otomatis backend pada 19 Oktober 2026. Tes otomatis melengkapi, bukan menggantikan, UAT oleh pengguna.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Jadwal tidak dikunci di slide ini; mintalah pimpinan menetapkan tanggal pada sesi ini.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Siapkan akun demo untuk tiap peran bila pimpinan ingin melihat langsung.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jpg"/><Relationship Id="rId3" Type="http://schemas.openxmlformats.org/officeDocument/2006/relationships/image" Target="../media/image-1-3.jp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image" Target="../media/image-4-2.jpg"/><Relationship Id="rId3" Type="http://schemas.openxmlformats.org/officeDocument/2006/relationships/image" Target="../media/image-4-3.jp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image" Target="../media/image-8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image" Target="../media/image-9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g"/><Relationship Id="rId2" Type="http://schemas.openxmlformats.org/officeDocument/2006/relationships/image" Target="../media/image-10-2.jpg"/><Relationship Id="rId3" Type="http://schemas.openxmlformats.org/officeDocument/2006/relationships/image" Target="../media/image-10-3.jp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g"/><Relationship Id="rId2" Type="http://schemas.openxmlformats.org/officeDocument/2006/relationships/image" Target="../media/image-11-2.jpg"/><Relationship Id="rId3" Type="http://schemas.openxmlformats.org/officeDocument/2006/relationships/image" Target="../media/image-11-3.jp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g"/><Relationship Id="rId2" Type="http://schemas.openxmlformats.org/officeDocument/2006/relationships/image" Target="../media/image-12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jpg"/><Relationship Id="rId2" Type="http://schemas.openxmlformats.org/officeDocument/2006/relationships/image" Target="../media/image-13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jpg"/><Relationship Id="rId2" Type="http://schemas.openxmlformats.org/officeDocument/2006/relationships/image" Target="../media/image-14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jpg"/><Relationship Id="rId2" Type="http://schemas.openxmlformats.org/officeDocument/2006/relationships/image" Target="../media/image-15-2.jpg"/><Relationship Id="rId3" Type="http://schemas.openxmlformats.org/officeDocument/2006/relationships/image" Target="../media/image-15-3.jp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jpg"/><Relationship Id="rId3" Type="http://schemas.openxmlformats.org/officeDocument/2006/relationships/image" Target="../media/image-19-3.jp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BBF24"/>
          </a:solidFill>
          <a:ln/>
        </p:spPr>
      </p:sp>
      <p:pic>
        <p:nvPicPr>
          <p:cNvPr id="3" name="Image 0" descr="img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548640"/>
            <a:ext cx="777240" cy="7772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45920" y="566928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Yayasan Pendidikan Jayawijaya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1645920" y="9326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YPJ Kuala Kencana  ·  YPJ TPRA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731520" y="21031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ACCEPTANCE TEST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731520" y="2468880"/>
            <a:ext cx="5486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YPJ Assets</a:t>
            </a:r>
            <a:endParaRPr lang="en-US" sz="6000" dirty="0"/>
          </a:p>
        </p:txBody>
      </p:sp>
      <p:sp>
        <p:nvSpPr>
          <p:cNvPr id="8" name="Text 5"/>
          <p:cNvSpPr/>
          <p:nvPr/>
        </p:nvSpPr>
        <p:spPr>
          <a:xfrm>
            <a:off x="731520" y="3520440"/>
            <a:ext cx="5120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Satu sistem untuk mengelola aset, peminjaman, jadwal, dan BYOD — dari laptop, tablet, hingga HP.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731520" y="512064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Pengenalan &amp; UAT untuk Pimpinan YPJ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731520" y="544068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Selasa, 20 Oktober 2026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227064" y="1289304"/>
            <a:ext cx="5285232" cy="3364992"/>
          </a:xfrm>
          <a:prstGeom prst="roundRect">
            <a:avLst>
              <a:gd name="adj" fmla="val 1902"/>
            </a:avLst>
          </a:prstGeom>
          <a:solidFill>
            <a:srgbClr val="1E293B"/>
          </a:solidFill>
          <a:ln/>
          <a:effectLst>
            <a:outerShdw sx="100000" sy="100000" kx="0" ky="0" algn="bl" rotWithShape="0" blurRad="177800" dist="63500" dir="5400000">
              <a:srgbClr val="000000">
                <a:alpha val="28000"/>
              </a:srgbClr>
            </a:outerShdw>
          </a:effectLst>
        </p:spPr>
      </p:sp>
      <p:pic>
        <p:nvPicPr>
          <p:cNvPr id="12" name="Image 1" descr="img/laptop-dash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1371600"/>
            <a:ext cx="5120640" cy="3200400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5989320" y="4663440"/>
            <a:ext cx="5760720" cy="118872"/>
          </a:xfrm>
          <a:prstGeom prst="roundRect">
            <a:avLst>
              <a:gd name="adj" fmla="val 38462"/>
            </a:avLst>
          </a:prstGeom>
          <a:solidFill>
            <a:srgbClr val="CBD5E1"/>
          </a:solidFill>
          <a:ln/>
        </p:spPr>
      </p:sp>
      <p:sp>
        <p:nvSpPr>
          <p:cNvPr id="14" name="Shape 10"/>
          <p:cNvSpPr/>
          <p:nvPr/>
        </p:nvSpPr>
        <p:spPr>
          <a:xfrm>
            <a:off x="9884664" y="3118104"/>
            <a:ext cx="1600932" cy="3273552"/>
          </a:xfrm>
          <a:prstGeom prst="roundRect">
            <a:avLst>
              <a:gd name="adj" fmla="val 11423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77800" dist="63500" dir="5400000">
              <a:srgbClr val="000000">
                <a:alpha val="28000"/>
              </a:srgbClr>
            </a:outerShdw>
          </a:effectLst>
        </p:spPr>
      </p:sp>
      <p:pic>
        <p:nvPicPr>
          <p:cNvPr id="15" name="Image 2" descr="img/phone-myassets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6960" y="3200400"/>
            <a:ext cx="1436340" cy="31089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PEMBUKA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 hari ini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655624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YPJ Assets  ·  UAT &amp; Pengenalan Aplikasi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669280" y="6556248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pada tampilan adalah data demo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155680" y="6556248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48640" y="160020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1554480" y="160020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Mengapa YPJ Assets</a:t>
            </a:r>
            <a:endParaRPr lang="en-US" sz="2200" dirty="0"/>
          </a:p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Tantangan, solusi, dan fitur utama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548640" y="2423160"/>
            <a:ext cx="786384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251460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1554480" y="251460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Satu aplikasi, tiga perangkat</a:t>
            </a:r>
            <a:endParaRPr lang="en-US" sz="2200" dirty="0"/>
          </a:p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Laptop, tablet, dan HP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548640" y="3337560"/>
            <a:ext cx="786384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342900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1554480" y="342900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Alur end-to-end</a:t>
            </a:r>
            <a:endParaRPr lang="en-US" sz="2200" dirty="0"/>
          </a:p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Onboarding, aset, peminjaman, jadwal &amp; QR, BYOD, pimpinan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548640" y="4251960"/>
            <a:ext cx="786384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434340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3600" dirty="0"/>
          </a:p>
        </p:txBody>
      </p:sp>
      <p:sp>
        <p:nvSpPr>
          <p:cNvPr id="18" name="Text 16"/>
          <p:cNvSpPr/>
          <p:nvPr/>
        </p:nvSpPr>
        <p:spPr>
          <a:xfrm>
            <a:off x="1554480" y="434340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Skenario UAT</a:t>
            </a:r>
            <a:endParaRPr lang="en-US" sz="2200" dirty="0"/>
          </a:p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 yang akan diuji, oleh siapa, dengan hasil apa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548640" y="5166360"/>
            <a:ext cx="786384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525780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3600" dirty="0"/>
          </a:p>
        </p:txBody>
      </p:sp>
      <p:sp>
        <p:nvSpPr>
          <p:cNvPr id="21" name="Text 19"/>
          <p:cNvSpPr/>
          <p:nvPr/>
        </p:nvSpPr>
        <p:spPr>
          <a:xfrm>
            <a:off x="1554480" y="525780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Kesiapan &amp; langkah berikutnya</a:t>
            </a:r>
            <a:endParaRPr lang="en-US" sz="2200" dirty="0"/>
          </a:p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Kesiapan teknis, rencana, dan keputusan yang dimohon</a:t>
            </a:r>
            <a:endParaRPr lang="en-US" sz="2200" dirty="0"/>
          </a:p>
        </p:txBody>
      </p:sp>
      <p:sp>
        <p:nvSpPr>
          <p:cNvPr id="22" name="Shape 20"/>
          <p:cNvSpPr/>
          <p:nvPr/>
        </p:nvSpPr>
        <p:spPr>
          <a:xfrm>
            <a:off x="548640" y="6080760"/>
            <a:ext cx="786384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052560" y="1600200"/>
            <a:ext cx="2606040" cy="4389120"/>
          </a:xfrm>
          <a:prstGeom prst="roundRect">
            <a:avLst>
              <a:gd name="adj" fmla="val 3509"/>
            </a:avLst>
          </a:prstGeom>
          <a:solidFill>
            <a:srgbClr val="0B1220"/>
          </a:solidFill>
          <a:ln/>
        </p:spPr>
      </p:sp>
      <p:sp>
        <p:nvSpPr>
          <p:cNvPr id="24" name="Text 22"/>
          <p:cNvSpPr/>
          <p:nvPr/>
        </p:nvSpPr>
        <p:spPr>
          <a:xfrm>
            <a:off x="9281160" y="18288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Tujuan sesi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9281160" y="2286000"/>
            <a:ext cx="219456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Pimpinan memahami alur kerja YPJ Assets dari awal sampai akhir, dan menyepakati rencana UAT serta kriteria penerimaannya.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LATAR BELAKANG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Dari pencatatan terpisah menjadi satu sumber data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655624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YPJ Assets  ·  UAT &amp; Pengenalan Aplikasi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669280" y="6556248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pada tampilan adalah data demo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155680" y="6556248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48640" y="1600200"/>
            <a:ext cx="3520440" cy="39319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1600200"/>
            <a:ext cx="3520440" cy="82296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182880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Tantangan umum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77240" y="2377440"/>
            <a:ext cx="310896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aset tersebar di banyak berkas dan tidak seragam</a:t>
            </a:r>
            <a:endParaRPr lang="en-US" sz="14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Serah terima aset sulit dilacak: siapa memegang apa</a:t>
            </a:r>
            <a:endParaRPr lang="en-US" sz="14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Peminjaman laptop/iPad/kamera dikelola manual</a:t>
            </a:r>
            <a:endParaRPr lang="en-US" sz="14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Jadwal cart &amp; lab bentrok, kondisi barang tidak terdokumentasi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297680" y="1600200"/>
            <a:ext cx="3520440" cy="39319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297680" y="1600200"/>
            <a:ext cx="3520440" cy="8229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4" name="Text 12"/>
          <p:cNvSpPr/>
          <p:nvPr/>
        </p:nvSpPr>
        <p:spPr>
          <a:xfrm>
            <a:off x="4526280" y="182880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Yang dilakukan YPJ Assets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526280" y="2377440"/>
            <a:ext cx="310896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Satu registri aset multi-kampus dengan nilai buku otomatis</a:t>
            </a:r>
            <a:endParaRPr lang="en-US" sz="14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Serah terima dengan konfirmasi penerima dan jejak kepemilikan</a:t>
            </a:r>
            <a:endParaRPr lang="en-US" sz="14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Peminjaman berstatus jelas: ajukan → konfirmasi → serah terima → kembali</a:t>
            </a:r>
            <a:endParaRPr lang="en-US" sz="14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Jadwal cart/lab, label QR, dan foto kondisi sebelum–sesudah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046720" y="1600200"/>
            <a:ext cx="3520440" cy="39319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046720" y="1600200"/>
            <a:ext cx="3520440" cy="82296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8" name="Text 16"/>
          <p:cNvSpPr/>
          <p:nvPr/>
        </p:nvSpPr>
        <p:spPr>
          <a:xfrm>
            <a:off x="8275320" y="182880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Manfaat bagi pimpinan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8275320" y="2377440"/>
            <a:ext cx="310896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Gambaran aset, nilai buku, dan kerusakan secara real-time</a:t>
            </a:r>
            <a:endParaRPr lang="en-US" sz="14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Akuntabilitas: tanda tangan elektronik &amp; log aktivitas</a:t>
            </a:r>
            <a:endParaRPr lang="en-US" sz="14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Laporan siap unduh (Excel) untuk audit dan perencanaan</a:t>
            </a:r>
            <a:endParaRPr lang="en-US" sz="14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Akses hanya-lihat khusus pimpinan, tanpa risiko mengubah data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TAMPILAN APLIKASI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Satu aplikasi, tiga perangkat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655624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YPJ Assets  ·  UAT &amp; Pengenalan Aplikasi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669280" y="6556248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pada tampilan adalah data demo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155680" y="6556248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48640" y="11887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Berjalan di browser — tanpa instalasi. Tampilan menyesuaikan layar; HP dipakai juga untuk memindai QR dan tanda tangan jari.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804524" y="1883664"/>
            <a:ext cx="5376672" cy="3422142"/>
          </a:xfrm>
          <a:prstGeom prst="roundRect">
            <a:avLst>
              <a:gd name="adj" fmla="val 1870"/>
            </a:avLst>
          </a:prstGeom>
          <a:solidFill>
            <a:srgbClr val="1E293B"/>
          </a:solidFill>
          <a:ln/>
          <a:effectLst>
            <a:outerShdw sx="100000" sy="100000" kx="0" ky="0" algn="bl" rotWithShape="0" blurRad="177800" dist="63500" dir="5400000">
              <a:srgbClr val="000000">
                <a:alpha val="28000"/>
              </a:srgbClr>
            </a:outerShdw>
          </a:effectLst>
        </p:spPr>
      </p:sp>
      <p:pic>
        <p:nvPicPr>
          <p:cNvPr id="10" name="Image 0" descr="img/laptop-dash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6820" y="1965960"/>
            <a:ext cx="5212080" cy="325755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566780" y="5314950"/>
            <a:ext cx="5852160" cy="118872"/>
          </a:xfrm>
          <a:prstGeom prst="roundRect">
            <a:avLst>
              <a:gd name="adj" fmla="val 38462"/>
            </a:avLst>
          </a:prstGeom>
          <a:solidFill>
            <a:srgbClr val="CBD5E1"/>
          </a:solidFill>
          <a:ln/>
        </p:spPr>
      </p:sp>
      <p:sp>
        <p:nvSpPr>
          <p:cNvPr id="12" name="Text 9"/>
          <p:cNvSpPr/>
          <p:nvPr/>
        </p:nvSpPr>
        <p:spPr>
          <a:xfrm>
            <a:off x="612500" y="6038698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Laptop — Admin &amp; ICT bekerja penuh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6510380" y="1828800"/>
            <a:ext cx="2791005" cy="3935578"/>
          </a:xfrm>
          <a:prstGeom prst="roundRect">
            <a:avLst>
              <a:gd name="adj" fmla="val 4587"/>
            </a:avLst>
          </a:prstGeom>
          <a:solidFill>
            <a:srgbClr val="1E293B"/>
          </a:solidFill>
          <a:ln/>
          <a:effectLst>
            <a:outerShdw sx="100000" sy="100000" kx="0" ky="0" algn="bl" rotWithShape="0" blurRad="177800" dist="63500" dir="5400000">
              <a:srgbClr val="000000">
                <a:alpha val="28000"/>
              </a:srgbClr>
            </a:outerShdw>
          </a:effectLst>
        </p:spPr>
      </p:sp>
      <p:pic>
        <p:nvPicPr>
          <p:cNvPr id="14" name="Image 1" descr="img/tablet-dash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1820" y="1920240"/>
            <a:ext cx="2608125" cy="3752698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6418940" y="6038698"/>
            <a:ext cx="297388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Tablet — guru di kelas / ruang ICT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9630569" y="1975104"/>
            <a:ext cx="1753859" cy="3604565"/>
          </a:xfrm>
          <a:prstGeom prst="roundRect">
            <a:avLst>
              <a:gd name="adj" fmla="val 10427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77800" dist="63500" dir="5400000">
              <a:srgbClr val="000000">
                <a:alpha val="28000"/>
              </a:srgbClr>
            </a:outerShdw>
          </a:effectLst>
        </p:spPr>
      </p:sp>
      <p:pic>
        <p:nvPicPr>
          <p:cNvPr id="17" name="Image 2" descr="img/phone-dash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12865" y="2057400"/>
            <a:ext cx="1589267" cy="3439973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9438545" y="6038698"/>
            <a:ext cx="213790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HP — konfirmasi cepat, scan QR, tanda tangan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GAMBARAN FITUR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Fitur utama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655624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YPJ Assets  ·  UAT &amp; Pengenalan Aplikasi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669280" y="6556248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pada tampilan adalah data demo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155680" y="6556248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48640" y="1508760"/>
            <a:ext cx="2651760" cy="1463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13232" y="161848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13232" y="189280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Registri aset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13232" y="2258568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Kategori, lokasi, foto, dokumen, nilai buku &amp; penyusutan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355848" y="1508760"/>
            <a:ext cx="2651760" cy="1463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520440" y="161848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520440" y="189280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Serah terima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520440" y="2258568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Penerima mengonfirmasi; jejak kepemilikan tersimpan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163056" y="1508760"/>
            <a:ext cx="2651760" cy="1463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27648" y="161848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327648" y="189280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Kelas &amp; ruang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327648" y="2258568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Serah terima satu ruang oleh guru penanggung jawab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8970264" y="1508760"/>
            <a:ext cx="2651760" cy="1463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34856" y="161848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9134856" y="189280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Kerusakan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9134856" y="2258568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Lapor, tindak lanjut, dan selesai — terlacak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48640" y="3136392"/>
            <a:ext cx="2651760" cy="1463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13232" y="324612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713232" y="35204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Kepatuhan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713232" y="388620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Inspeksi &amp; jatuh tempo dengan pengingat email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3355848" y="3136392"/>
            <a:ext cx="2651760" cy="1463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520440" y="324612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3520440" y="35204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Peminjaman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3520440" y="388620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Ajukan, konfirmasi ICT, serah terima, pengembalian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6163056" y="3136392"/>
            <a:ext cx="2651760" cy="1463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327648" y="324612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327648" y="35204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Jadwal cart &amp; lab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6327648" y="388620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Kalender per jam pelajaran, jadwal tetap didahulukan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8970264" y="3136392"/>
            <a:ext cx="2651760" cy="1463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134856" y="324612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9134856" y="35204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 QR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9134856" y="388620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Pindai untuk serah terima &amp; pengembalian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548640" y="4764024"/>
            <a:ext cx="2651760" cy="1463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13232" y="487375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713232" y="5148072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BYOD siswa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713232" y="5513832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Persetujuan orang tua → guru → ICT, MAC address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3355848" y="4764024"/>
            <a:ext cx="2651760" cy="1463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520440" y="487375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3520440" y="5148072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Kebijakan &amp; e-sign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3520440" y="5513832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Wajib dikonfirmasi saat pertama masuk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6163056" y="4764024"/>
            <a:ext cx="2651760" cy="1463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327648" y="487375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6327648" y="5148072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Laporan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6327648" y="5513832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Inventaris, penyusutan, kerusakan, kepatuhan, Excel</a:t>
            </a:r>
            <a:endParaRPr lang="en-US" sz="1200" dirty="0"/>
          </a:p>
        </p:txBody>
      </p:sp>
      <p:sp>
        <p:nvSpPr>
          <p:cNvPr id="52" name="Shape 50"/>
          <p:cNvSpPr/>
          <p:nvPr/>
        </p:nvSpPr>
        <p:spPr>
          <a:xfrm>
            <a:off x="8970264" y="4764024"/>
            <a:ext cx="2651760" cy="1463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9134856" y="487375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200" dirty="0"/>
          </a:p>
        </p:txBody>
      </p:sp>
      <p:sp>
        <p:nvSpPr>
          <p:cNvPr id="54" name="Text 52"/>
          <p:cNvSpPr/>
          <p:nvPr/>
        </p:nvSpPr>
        <p:spPr>
          <a:xfrm>
            <a:off x="9134856" y="5148072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Dwibahasa &amp; multi-kampus</a:t>
            </a:r>
            <a:endParaRPr lang="en-US" sz="1600" dirty="0"/>
          </a:p>
        </p:txBody>
      </p:sp>
      <p:sp>
        <p:nvSpPr>
          <p:cNvPr id="55" name="Text 53"/>
          <p:cNvSpPr/>
          <p:nvPr/>
        </p:nvSpPr>
        <p:spPr>
          <a:xfrm>
            <a:off x="9134856" y="5513832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Indonesia / English; KK dan TPRA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PERAN PENGGUNA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Siapa melakukan apa: peran &amp; hak akses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655624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YPJ Assets  ·  UAT &amp; Pengenalan Aplikasi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669280" y="6556248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pada tampilan adalah data demo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155680" y="6556248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48640" y="1600200"/>
            <a:ext cx="265176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48640" y="1600200"/>
            <a:ext cx="2651760" cy="868680"/>
          </a:xfrm>
          <a:prstGeom prst="rect">
            <a:avLst/>
          </a:prstGeom>
          <a:solidFill>
            <a:srgbClr val="0B1220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1600200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 Admin / Admin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31520" y="2651760"/>
            <a:ext cx="22860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Mengelola aset, pengguna, dan kepatuhan. Super Admin juga mengelola akun Admin dan seluruh modul peminjaman.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355848" y="1600200"/>
            <a:ext cx="265176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355848" y="1600200"/>
            <a:ext cx="2651760" cy="8686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4" name="Text 12"/>
          <p:cNvSpPr/>
          <p:nvPr/>
        </p:nvSpPr>
        <p:spPr>
          <a:xfrm>
            <a:off x="3538728" y="1600200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ICT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3538728" y="2651760"/>
            <a:ext cx="22860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Penanggung jawab ICT di SATU kampus: konfirmasi pinjaman, serah terima &amp; pengembalian, cart, lab, jadwal, persetujuan BYOD.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163056" y="1600200"/>
            <a:ext cx="265176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63056" y="1600200"/>
            <a:ext cx="2651760" cy="86868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8" name="Text 16"/>
          <p:cNvSpPr/>
          <p:nvPr/>
        </p:nvSpPr>
        <p:spPr>
          <a:xfrm>
            <a:off x="6345936" y="1600200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 / Guru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345936" y="2651760"/>
            <a:ext cx="22860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Melihat aset kampusnya, konfirmasi serah terima, lapor kerusakan, meminjam peralatan, memesan lab, membuka BYOD siswa.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8970264" y="1600200"/>
            <a:ext cx="265176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8970264" y="1600200"/>
            <a:ext cx="2651760" cy="86868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22" name="Text 20"/>
          <p:cNvSpPr/>
          <p:nvPr/>
        </p:nvSpPr>
        <p:spPr>
          <a:xfrm>
            <a:off x="9153144" y="1600200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Pimpinan (Leader)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9153144" y="2651760"/>
            <a:ext cx="22860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Hanya-lihat atas semua data, dasbor, dan laporan — tidak dapat membuat atau mengubah apa pun.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48640" y="52120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Pada UAT, setiap peran diuji dengan akun masing-masing pada kampus yang sesuai.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GAMBARAN ALUR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Alur end-to-end: enam perjalanan utama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16213A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655624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YPJ Assets  ·  UAT &amp; Pengenalan Aplikasi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669280" y="6556248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pada tampilan adalah data demo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155680" y="6556248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48640" y="2011680"/>
            <a:ext cx="1828800" cy="1005840"/>
          </a:xfrm>
          <a:prstGeom prst="homePlate">
            <a:avLst/>
          </a:prstGeom>
          <a:solidFill>
            <a:srgbClr val="1E2D4D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2011680"/>
            <a:ext cx="1508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Masuk &amp; kebijakan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48640" y="160020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548640" y="3200400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Semua pengguna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548640" y="3794760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Baca &amp; tanda tangan elektronik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2423160" y="2011680"/>
            <a:ext cx="1828800" cy="1005840"/>
          </a:xfrm>
          <a:prstGeom prst="homePlate">
            <a:avLst/>
          </a:prstGeom>
          <a:solidFill>
            <a:srgbClr val="16213A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514600" y="2011680"/>
            <a:ext cx="1508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Aset &amp; serah terima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423160" y="160020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2423160" y="3200400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→ Guru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2423160" y="3794760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Daftar, alihkan, konfirmasi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4297680" y="2011680"/>
            <a:ext cx="1828800" cy="1005840"/>
          </a:xfrm>
          <a:prstGeom prst="homePlate">
            <a:avLst/>
          </a:prstGeom>
          <a:solidFill>
            <a:srgbClr val="1E2D4D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389120" y="2011680"/>
            <a:ext cx="1508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Pemeliharaan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297680" y="160020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4297680" y="3200400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Guru / Admin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4297680" y="3794760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Lapor kerusakan, kepatuhan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6172200" y="2011680"/>
            <a:ext cx="1828800" cy="1005840"/>
          </a:xfrm>
          <a:prstGeom prst="homePlate">
            <a:avLst/>
          </a:prstGeom>
          <a:solidFill>
            <a:srgbClr val="16213A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263640" y="2011680"/>
            <a:ext cx="1508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Peminjaman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172200" y="160020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6172200" y="3200400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Guru → ICT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6172200" y="3794760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Ajukan, setujui, serah terima, kembali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8046720" y="2011680"/>
            <a:ext cx="1828800" cy="1005840"/>
          </a:xfrm>
          <a:prstGeom prst="homePlate">
            <a:avLst/>
          </a:prstGeom>
          <a:solidFill>
            <a:srgbClr val="1E2D4D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138160" y="2011680"/>
            <a:ext cx="1508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Jadwal &amp; QR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8046720" y="160020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8046720" y="3200400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ICT / Guru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8046720" y="3794760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 &amp; lab, pindai label</a:t>
            </a:r>
            <a:endParaRPr lang="en-US" sz="1250" dirty="0"/>
          </a:p>
        </p:txBody>
      </p:sp>
      <p:sp>
        <p:nvSpPr>
          <p:cNvPr id="33" name="Shape 31"/>
          <p:cNvSpPr/>
          <p:nvPr/>
        </p:nvSpPr>
        <p:spPr>
          <a:xfrm>
            <a:off x="9921240" y="2011680"/>
            <a:ext cx="1828800" cy="1005840"/>
          </a:xfrm>
          <a:prstGeom prst="homePlate">
            <a:avLst/>
          </a:prstGeom>
          <a:solidFill>
            <a:srgbClr val="16213A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0012680" y="2011680"/>
            <a:ext cx="1508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BYOD siswa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9921240" y="160020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000" dirty="0"/>
          </a:p>
        </p:txBody>
      </p:sp>
      <p:sp>
        <p:nvSpPr>
          <p:cNvPr id="36" name="Text 34"/>
          <p:cNvSpPr/>
          <p:nvPr/>
        </p:nvSpPr>
        <p:spPr>
          <a:xfrm>
            <a:off x="9921240" y="3200400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Orang tua → Guru → ICT</a:t>
            </a:r>
            <a:endParaRPr lang="en-US" sz="1250" dirty="0"/>
          </a:p>
        </p:txBody>
      </p:sp>
      <p:sp>
        <p:nvSpPr>
          <p:cNvPr id="37" name="Text 35"/>
          <p:cNvSpPr/>
          <p:nvPr/>
        </p:nvSpPr>
        <p:spPr>
          <a:xfrm>
            <a:off x="9921240" y="3794760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Tanda tangan &amp; persetujuan</a:t>
            </a:r>
            <a:endParaRPr lang="en-US" sz="1250" dirty="0"/>
          </a:p>
        </p:txBody>
      </p:sp>
      <p:sp>
        <p:nvSpPr>
          <p:cNvPr id="38" name="Shape 36"/>
          <p:cNvSpPr/>
          <p:nvPr/>
        </p:nvSpPr>
        <p:spPr>
          <a:xfrm>
            <a:off x="548640" y="5074920"/>
            <a:ext cx="11064240" cy="1005840"/>
          </a:xfrm>
          <a:prstGeom prst="roundRect">
            <a:avLst>
              <a:gd name="adj" fmla="val 7273"/>
            </a:avLst>
          </a:prstGeom>
          <a:solidFill>
            <a:srgbClr val="16213A"/>
          </a:solidFill>
          <a:ln/>
        </p:spPr>
      </p:sp>
      <p:sp>
        <p:nvSpPr>
          <p:cNvPr id="39" name="Text 37"/>
          <p:cNvSpPr/>
          <p:nvPr/>
        </p:nvSpPr>
        <p:spPr>
          <a:xfrm>
            <a:off x="777240" y="5074920"/>
            <a:ext cx="10607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 atas semuanya: </a:t>
            </a:r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Pimpinan memantau lewat dasbor dan laporan, sementara log aktivitas mencatat setiap tindakan penting.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Masuk pertama kali &amp; tanda tangan kebijakan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655624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YPJ Assets  ·  UAT &amp; Pengenalan Aplikasi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669280" y="6556248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pada tampilan adalah data demo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155680" y="6556248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48640" y="1600200"/>
            <a:ext cx="420624" cy="420624"/>
          </a:xfrm>
          <a:prstGeom prst="ellipse">
            <a:avLst/>
          </a:prstGeom>
          <a:solidFill>
            <a:srgbClr val="0B1220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16002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143000" y="1563624"/>
            <a:ext cx="338328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dengan akun sekolah</a:t>
            </a:r>
            <a:endParaRPr lang="en-US" sz="1500" dirty="0"/>
          </a:p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Akun dibuat Admin; tersedia juga atur &amp; reset kata sandi.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758952" y="2057400"/>
            <a:ext cx="0" cy="283464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48640" y="2386584"/>
            <a:ext cx="420624" cy="420624"/>
          </a:xfrm>
          <a:prstGeom prst="ellipse">
            <a:avLst/>
          </a:prstGeom>
          <a:solidFill>
            <a:srgbClr val="0B1220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238658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143000" y="2350008"/>
            <a:ext cx="338328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Baca seluruh kebijakan</a:t>
            </a:r>
            <a:endParaRPr lang="en-US" sz="1500" dirty="0"/>
          </a:p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Bagian konfirmasi baru terbuka setelah digulir sampai akhir.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758952" y="2843784"/>
            <a:ext cx="0" cy="283464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" y="3172968"/>
            <a:ext cx="420624" cy="420624"/>
          </a:xfrm>
          <a:prstGeom prst="ellipse">
            <a:avLst/>
          </a:prstGeom>
          <a:solidFill>
            <a:srgbClr val="0B1220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317296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143000" y="3136392"/>
            <a:ext cx="338328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Centang tiga pernyataan</a:t>
            </a:r>
            <a:endParaRPr lang="en-US" sz="1500" dirty="0"/>
          </a:p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Sudah membaca, akan mematuhi, menerima sanksi.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758952" y="3630168"/>
            <a:ext cx="0" cy="283464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48640" y="3959352"/>
            <a:ext cx="420624" cy="420624"/>
          </a:xfrm>
          <a:prstGeom prst="ellipse">
            <a:avLst/>
          </a:prstGeom>
          <a:solidFill>
            <a:srgbClr val="0B1220"/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" y="395935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143000" y="3922776"/>
            <a:ext cx="338328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Ketik nama &amp; tanda tangan</a:t>
            </a:r>
            <a:endParaRPr lang="en-US" sz="1500" dirty="0"/>
          </a:p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Tanggal, jam, versi kebijakan, dan perangkat tercatat.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758952" y="4416552"/>
            <a:ext cx="0" cy="283464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48640" y="4745736"/>
            <a:ext cx="420624" cy="420624"/>
          </a:xfrm>
          <a:prstGeom prst="ellipse">
            <a:avLst/>
          </a:prstGeom>
          <a:solidFill>
            <a:srgbClr val="0B1220"/>
          </a:solidFill>
          <a:ln/>
        </p:spPr>
      </p:sp>
      <p:sp>
        <p:nvSpPr>
          <p:cNvPr id="25" name="Text 23"/>
          <p:cNvSpPr/>
          <p:nvPr/>
        </p:nvSpPr>
        <p:spPr>
          <a:xfrm>
            <a:off x="548640" y="474573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1143000" y="4709160"/>
            <a:ext cx="338328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Akses penuh dibuka</a:t>
            </a:r>
            <a:endParaRPr lang="en-US" sz="1500" dirty="0"/>
          </a:p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Tanpa ini, tidak bisa meminjam atau menerima aset.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4672584" y="1517904"/>
            <a:ext cx="4645152" cy="2964942"/>
          </a:xfrm>
          <a:prstGeom prst="roundRect">
            <a:avLst>
              <a:gd name="adj" fmla="val 2159"/>
            </a:avLst>
          </a:prstGeom>
          <a:solidFill>
            <a:srgbClr val="1E293B"/>
          </a:solidFill>
          <a:ln/>
          <a:effectLst>
            <a:outerShdw sx="100000" sy="100000" kx="0" ky="0" algn="bl" rotWithShape="0" blurRad="177800" dist="63500" dir="5400000">
              <a:srgbClr val="000000">
                <a:alpha val="28000"/>
              </a:srgbClr>
            </a:outerShdw>
          </a:effectLst>
        </p:spPr>
      </p:sp>
      <p:pic>
        <p:nvPicPr>
          <p:cNvPr id="28" name="Image 0" descr="img/laptop-policy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54880" y="1600200"/>
            <a:ext cx="4480560" cy="2800350"/>
          </a:xfrm>
          <a:prstGeom prst="rect">
            <a:avLst/>
          </a:prstGeom>
        </p:spPr>
      </p:pic>
      <p:sp>
        <p:nvSpPr>
          <p:cNvPr id="29" name="Shape 26"/>
          <p:cNvSpPr/>
          <p:nvPr/>
        </p:nvSpPr>
        <p:spPr>
          <a:xfrm>
            <a:off x="4434840" y="4491990"/>
            <a:ext cx="5120640" cy="118872"/>
          </a:xfrm>
          <a:prstGeom prst="roundRect">
            <a:avLst>
              <a:gd name="adj" fmla="val 38462"/>
            </a:avLst>
          </a:prstGeom>
          <a:solidFill>
            <a:srgbClr val="CBD5E1"/>
          </a:solidFill>
          <a:ln/>
        </p:spPr>
      </p:sp>
      <p:sp>
        <p:nvSpPr>
          <p:cNvPr id="30" name="Shape 27"/>
          <p:cNvSpPr/>
          <p:nvPr/>
        </p:nvSpPr>
        <p:spPr>
          <a:xfrm>
            <a:off x="9701784" y="1655064"/>
            <a:ext cx="1685422" cy="3456432"/>
          </a:xfrm>
          <a:prstGeom prst="roundRect">
            <a:avLst>
              <a:gd name="adj" fmla="val 10851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77800" dist="63500" dir="5400000">
              <a:srgbClr val="000000">
                <a:alpha val="28000"/>
              </a:srgbClr>
            </a:outerShdw>
          </a:effectLst>
        </p:spPr>
      </p:sp>
      <p:pic>
        <p:nvPicPr>
          <p:cNvPr id="31" name="Image 1" descr="img/phone-policy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0" y="1737360"/>
            <a:ext cx="1520830" cy="3291840"/>
          </a:xfrm>
          <a:prstGeom prst="rect">
            <a:avLst/>
          </a:prstGeom>
        </p:spPr>
      </p:pic>
      <p:sp>
        <p:nvSpPr>
          <p:cNvPr id="32" name="Text 28"/>
          <p:cNvSpPr/>
          <p:nvPr/>
        </p:nvSpPr>
        <p:spPr>
          <a:xfrm>
            <a:off x="4480560" y="539496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Laptop — jendela kebijakan</a:t>
            </a:r>
            <a:endParaRPr lang="en-US" sz="1200" dirty="0"/>
          </a:p>
        </p:txBody>
      </p:sp>
      <p:sp>
        <p:nvSpPr>
          <p:cNvPr id="33" name="Text 29"/>
          <p:cNvSpPr/>
          <p:nvPr/>
        </p:nvSpPr>
        <p:spPr>
          <a:xfrm>
            <a:off x="9418320" y="539496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HP — tampil sama di layar kecil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Mendaftarkan aset &amp; serah terima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655624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YPJ Assets  ·  UAT &amp; Pengenalan Aplikasi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669280" y="6556248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pada tampilan adalah data demo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155680" y="6556248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48640" y="1600200"/>
            <a:ext cx="420624" cy="420624"/>
          </a:xfrm>
          <a:prstGeom prst="ellipse">
            <a:avLst/>
          </a:prstGeom>
          <a:solidFill>
            <a:srgbClr val="0B1220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16002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143000" y="1563624"/>
            <a:ext cx="338328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menambah aset</a:t>
            </a:r>
            <a:endParaRPr lang="en-US" sz="1500" dirty="0"/>
          </a:p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Nama, tag, kategori, lokasi, harga, umur manfaat, foto &amp; dokumen.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758952" y="2057400"/>
            <a:ext cx="0" cy="283464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48640" y="2386584"/>
            <a:ext cx="420624" cy="420624"/>
          </a:xfrm>
          <a:prstGeom prst="ellipse">
            <a:avLst/>
          </a:prstGeom>
          <a:solidFill>
            <a:srgbClr val="0B1220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238658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143000" y="2350008"/>
            <a:ext cx="338328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 menghitung nilai buku</a:t>
            </a:r>
            <a:endParaRPr lang="en-US" sz="1500" dirty="0"/>
          </a:p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Penyusutan garis lurus otomatis.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758952" y="2843784"/>
            <a:ext cx="0" cy="283464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" y="3172968"/>
            <a:ext cx="420624" cy="420624"/>
          </a:xfrm>
          <a:prstGeom prst="ellipse">
            <a:avLst/>
          </a:prstGeom>
          <a:solidFill>
            <a:srgbClr val="0B1220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317296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143000" y="3136392"/>
            <a:ext cx="338328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mengalihkan ke guru</a:t>
            </a:r>
            <a:endParaRPr lang="en-US" sz="1500" dirty="0"/>
          </a:p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Satuan, massal, atau satu ruang kelas sekaligus.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758952" y="3630168"/>
            <a:ext cx="0" cy="283464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48640" y="3959352"/>
            <a:ext cx="420624" cy="420624"/>
          </a:xfrm>
          <a:prstGeom prst="ellipse">
            <a:avLst/>
          </a:prstGeom>
          <a:solidFill>
            <a:srgbClr val="0B1220"/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" y="395935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143000" y="3922776"/>
            <a:ext cx="338328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Guru menerima email &amp; mengonfirmasi</a:t>
            </a:r>
            <a:endParaRPr lang="en-US" sz="1500" dirty="0"/>
          </a:p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 "Aset Saya": terima atau tolak dengan alasan.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758952" y="4416552"/>
            <a:ext cx="0" cy="283464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48640" y="4745736"/>
            <a:ext cx="420624" cy="420624"/>
          </a:xfrm>
          <a:prstGeom prst="ellipse">
            <a:avLst/>
          </a:prstGeom>
          <a:solidFill>
            <a:srgbClr val="0B1220"/>
          </a:solidFill>
          <a:ln/>
        </p:spPr>
      </p:sp>
      <p:sp>
        <p:nvSpPr>
          <p:cNvPr id="25" name="Text 23"/>
          <p:cNvSpPr/>
          <p:nvPr/>
        </p:nvSpPr>
        <p:spPr>
          <a:xfrm>
            <a:off x="548640" y="474573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1143000" y="4709160"/>
            <a:ext cx="338328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Kepemilikan resmi berpindah</a:t>
            </a:r>
            <a:endParaRPr lang="en-US" sz="1500" dirty="0"/>
          </a:p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Jejak kepemilikan lengkap tersimpan.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4672584" y="1517904"/>
            <a:ext cx="4645152" cy="2964942"/>
          </a:xfrm>
          <a:prstGeom prst="roundRect">
            <a:avLst>
              <a:gd name="adj" fmla="val 2159"/>
            </a:avLst>
          </a:prstGeom>
          <a:solidFill>
            <a:srgbClr val="1E293B"/>
          </a:solidFill>
          <a:ln/>
          <a:effectLst>
            <a:outerShdw sx="100000" sy="100000" kx="0" ky="0" algn="bl" rotWithShape="0" blurRad="177800" dist="63500" dir="5400000">
              <a:srgbClr val="000000">
                <a:alpha val="28000"/>
              </a:srgbClr>
            </a:outerShdw>
          </a:effectLst>
        </p:spPr>
      </p:sp>
      <p:pic>
        <p:nvPicPr>
          <p:cNvPr id="28" name="Image 0" descr="img/laptop-assets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54880" y="1600200"/>
            <a:ext cx="4480560" cy="2800350"/>
          </a:xfrm>
          <a:prstGeom prst="rect">
            <a:avLst/>
          </a:prstGeom>
        </p:spPr>
      </p:pic>
      <p:sp>
        <p:nvSpPr>
          <p:cNvPr id="29" name="Shape 26"/>
          <p:cNvSpPr/>
          <p:nvPr/>
        </p:nvSpPr>
        <p:spPr>
          <a:xfrm>
            <a:off x="4434840" y="4491990"/>
            <a:ext cx="5120640" cy="118872"/>
          </a:xfrm>
          <a:prstGeom prst="roundRect">
            <a:avLst>
              <a:gd name="adj" fmla="val 38462"/>
            </a:avLst>
          </a:prstGeom>
          <a:solidFill>
            <a:srgbClr val="CBD5E1"/>
          </a:solidFill>
          <a:ln/>
        </p:spPr>
      </p:sp>
      <p:sp>
        <p:nvSpPr>
          <p:cNvPr id="30" name="Shape 27"/>
          <p:cNvSpPr/>
          <p:nvPr/>
        </p:nvSpPr>
        <p:spPr>
          <a:xfrm>
            <a:off x="9701784" y="1655064"/>
            <a:ext cx="1685422" cy="3456432"/>
          </a:xfrm>
          <a:prstGeom prst="roundRect">
            <a:avLst>
              <a:gd name="adj" fmla="val 10851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77800" dist="63500" dir="5400000">
              <a:srgbClr val="000000">
                <a:alpha val="28000"/>
              </a:srgbClr>
            </a:outerShdw>
          </a:effectLst>
        </p:spPr>
      </p:sp>
      <p:pic>
        <p:nvPicPr>
          <p:cNvPr id="31" name="Image 1" descr="img/phone-myassets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0" y="1737360"/>
            <a:ext cx="1520830" cy="3291840"/>
          </a:xfrm>
          <a:prstGeom prst="rect">
            <a:avLst/>
          </a:prstGeom>
        </p:spPr>
      </p:pic>
      <p:sp>
        <p:nvSpPr>
          <p:cNvPr id="32" name="Text 28"/>
          <p:cNvSpPr/>
          <p:nvPr/>
        </p:nvSpPr>
        <p:spPr>
          <a:xfrm>
            <a:off x="4480560" y="539496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Laptop — daftar aset (Admin)</a:t>
            </a:r>
            <a:endParaRPr lang="en-US" sz="1200" dirty="0"/>
          </a:p>
        </p:txBody>
      </p:sp>
      <p:sp>
        <p:nvSpPr>
          <p:cNvPr id="33" name="Text 29"/>
          <p:cNvSpPr/>
          <p:nvPr/>
        </p:nvSpPr>
        <p:spPr>
          <a:xfrm>
            <a:off x="9418320" y="539496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HP — guru konfirmasi penerimaan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Pemeliharaan: kerusakan &amp; kepatuhan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655624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YPJ Assets  ·  UAT &amp; Pengenalan Aplikasi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669280" y="6556248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pada tampilan adalah data demo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155680" y="6556248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48640" y="118872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Kerusakan dilaporkan → ditandai sedang dikerjakan → diselesaikan. Inspeksi dan sertifikasi punya tanggal jatuh tempo dengan pengingat email; yang terlambat ditandai merah.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887063" y="1975104"/>
            <a:ext cx="5285232" cy="3364992"/>
          </a:xfrm>
          <a:prstGeom prst="roundRect">
            <a:avLst>
              <a:gd name="adj" fmla="val 1902"/>
            </a:avLst>
          </a:prstGeom>
          <a:solidFill>
            <a:srgbClr val="1E293B"/>
          </a:solidFill>
          <a:ln/>
          <a:effectLst>
            <a:outerShdw sx="100000" sy="100000" kx="0" ky="0" algn="bl" rotWithShape="0" blurRad="177800" dist="63500" dir="5400000">
              <a:srgbClr val="000000">
                <a:alpha val="28000"/>
              </a:srgbClr>
            </a:outerShdw>
          </a:effectLst>
        </p:spPr>
      </p:sp>
      <p:pic>
        <p:nvPicPr>
          <p:cNvPr id="10" name="Image 0" descr="img/laptop-faults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9359" y="2057400"/>
            <a:ext cx="5120640" cy="320040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649319" y="5349240"/>
            <a:ext cx="5760720" cy="118872"/>
          </a:xfrm>
          <a:prstGeom prst="roundRect">
            <a:avLst>
              <a:gd name="adj" fmla="val 38462"/>
            </a:avLst>
          </a:prstGeom>
          <a:solidFill>
            <a:srgbClr val="CBD5E1"/>
          </a:solidFill>
          <a:ln/>
        </p:spPr>
      </p:sp>
      <p:sp>
        <p:nvSpPr>
          <p:cNvPr id="12" name="Text 9"/>
          <p:cNvSpPr/>
          <p:nvPr/>
        </p:nvSpPr>
        <p:spPr>
          <a:xfrm>
            <a:off x="695039" y="6064301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Laporan kerusakan (Admin)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6501479" y="1920240"/>
            <a:ext cx="2745248" cy="3869741"/>
          </a:xfrm>
          <a:prstGeom prst="roundRect">
            <a:avLst>
              <a:gd name="adj" fmla="val 4663"/>
            </a:avLst>
          </a:prstGeom>
          <a:solidFill>
            <a:srgbClr val="1E293B"/>
          </a:solidFill>
          <a:ln/>
          <a:effectLst>
            <a:outerShdw sx="100000" sy="100000" kx="0" ky="0" algn="bl" rotWithShape="0" blurRad="177800" dist="63500" dir="5400000">
              <a:srgbClr val="000000">
                <a:alpha val="28000"/>
              </a:srgbClr>
            </a:outerShdw>
          </a:effectLst>
        </p:spPr>
      </p:sp>
      <p:pic>
        <p:nvPicPr>
          <p:cNvPr id="14" name="Image 1" descr="img/tablet-compliance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2919" y="2011680"/>
            <a:ext cx="2562368" cy="3686861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6410039" y="6064301"/>
            <a:ext cx="2928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Daftar kepatuhan &amp; jatuh tempo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9575911" y="2066544"/>
            <a:ext cx="1725978" cy="3544214"/>
          </a:xfrm>
          <a:prstGeom prst="roundRect">
            <a:avLst>
              <a:gd name="adj" fmla="val 10596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77800" dist="63500" dir="5400000">
              <a:srgbClr val="000000">
                <a:alpha val="28000"/>
              </a:srgbClr>
            </a:outerShdw>
          </a:effectLst>
        </p:spPr>
      </p:sp>
      <p:pic>
        <p:nvPicPr>
          <p:cNvPr id="17" name="Image 2" descr="img/phone-faults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58207" y="2148840"/>
            <a:ext cx="1561386" cy="337962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9383887" y="6064301"/>
            <a:ext cx="211002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Pantau kerusakan dari HP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· Peminjaman peralatan ICT &amp; media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655624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YPJ Assets  ·  UAT &amp; Pengenalan Aplikasi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669280" y="6556248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pada tampilan adalah data demo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155680" y="6556248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48640" y="1371600"/>
            <a:ext cx="1828800" cy="685800"/>
          </a:xfrm>
          <a:prstGeom prst="homePlate">
            <a:avLst/>
          </a:prstGeom>
          <a:solidFill>
            <a:srgbClr val="2563EB"/>
          </a:solidFill>
          <a:ln/>
        </p:spPr>
      </p:sp>
      <p:sp>
        <p:nvSpPr>
          <p:cNvPr id="9" name="Text 7"/>
          <p:cNvSpPr/>
          <p:nvPr/>
        </p:nvSpPr>
        <p:spPr>
          <a:xfrm>
            <a:off x="658368" y="1371600"/>
            <a:ext cx="1463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Ajukan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2084832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Guru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423160" y="1371600"/>
            <a:ext cx="1828800" cy="685800"/>
          </a:xfrm>
          <a:prstGeom prst="homePlate">
            <a:avLst/>
          </a:prstGeom>
          <a:solidFill>
            <a:srgbClr val="0B1220"/>
          </a:solidFill>
          <a:ln/>
        </p:spPr>
      </p:sp>
      <p:sp>
        <p:nvSpPr>
          <p:cNvPr id="12" name="Text 10"/>
          <p:cNvSpPr/>
          <p:nvPr/>
        </p:nvSpPr>
        <p:spPr>
          <a:xfrm>
            <a:off x="2532888" y="1371600"/>
            <a:ext cx="1463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Konfirmasi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423160" y="2084832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ICT (+ atasan bila bawa pulang)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297680" y="1371600"/>
            <a:ext cx="1828800" cy="685800"/>
          </a:xfrm>
          <a:prstGeom prst="homePlate">
            <a:avLst/>
          </a:prstGeom>
          <a:solidFill>
            <a:srgbClr val="0B1220"/>
          </a:solidFill>
          <a:ln/>
        </p:spPr>
      </p:sp>
      <p:sp>
        <p:nvSpPr>
          <p:cNvPr id="15" name="Text 13"/>
          <p:cNvSpPr/>
          <p:nvPr/>
        </p:nvSpPr>
        <p:spPr>
          <a:xfrm>
            <a:off x="4407408" y="1371600"/>
            <a:ext cx="1463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Serah terima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297680" y="2084832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Foto &amp; kelengkapan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172200" y="1371600"/>
            <a:ext cx="1828800" cy="685800"/>
          </a:xfrm>
          <a:prstGeom prst="homePlate">
            <a:avLst/>
          </a:prstGeom>
          <a:solidFill>
            <a:srgbClr val="0B1220"/>
          </a:solidFill>
          <a:ln/>
        </p:spPr>
      </p:sp>
      <p:sp>
        <p:nvSpPr>
          <p:cNvPr id="18" name="Text 16"/>
          <p:cNvSpPr/>
          <p:nvPr/>
        </p:nvSpPr>
        <p:spPr>
          <a:xfrm>
            <a:off x="6281928" y="1371600"/>
            <a:ext cx="1463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Digunakan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172200" y="2084832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Pengingat email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046720" y="1371600"/>
            <a:ext cx="1828800" cy="685800"/>
          </a:xfrm>
          <a:prstGeom prst="homePlate">
            <a:avLst/>
          </a:prstGeom>
          <a:solidFill>
            <a:srgbClr val="0B1220"/>
          </a:solidFill>
          <a:ln/>
        </p:spPr>
      </p:sp>
      <p:sp>
        <p:nvSpPr>
          <p:cNvPr id="21" name="Text 19"/>
          <p:cNvSpPr/>
          <p:nvPr/>
        </p:nvSpPr>
        <p:spPr>
          <a:xfrm>
            <a:off x="8156448" y="1371600"/>
            <a:ext cx="1463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Kembali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046720" y="2084832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Foto sesudah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9921240" y="1371600"/>
            <a:ext cx="1828800" cy="685800"/>
          </a:xfrm>
          <a:prstGeom prst="homePlate">
            <a:avLst/>
          </a:prstGeom>
          <a:solidFill>
            <a:srgbClr val="0B1220"/>
          </a:solidFill>
          <a:ln/>
        </p:spPr>
      </p:sp>
      <p:sp>
        <p:nvSpPr>
          <p:cNvPr id="24" name="Text 22"/>
          <p:cNvSpPr/>
          <p:nvPr/>
        </p:nvSpPr>
        <p:spPr>
          <a:xfrm>
            <a:off x="10030968" y="1371600"/>
            <a:ext cx="1463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Selesai / kerusakan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9921240" y="2084832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Otomatis tercatat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1794995" y="2660904"/>
            <a:ext cx="4279392" cy="2736342"/>
          </a:xfrm>
          <a:prstGeom prst="roundRect">
            <a:avLst>
              <a:gd name="adj" fmla="val 2339"/>
            </a:avLst>
          </a:prstGeom>
          <a:solidFill>
            <a:srgbClr val="1E293B"/>
          </a:solidFill>
          <a:ln/>
          <a:effectLst>
            <a:outerShdw sx="100000" sy="100000" kx="0" ky="0" algn="bl" rotWithShape="0" blurRad="177800" dist="63500" dir="5400000">
              <a:srgbClr val="000000">
                <a:alpha val="28000"/>
              </a:srgbClr>
            </a:outerShdw>
          </a:effectLst>
        </p:spPr>
      </p:sp>
      <p:pic>
        <p:nvPicPr>
          <p:cNvPr id="27" name="Image 0" descr="img/laptop-loans-ict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77291" y="2743200"/>
            <a:ext cx="4114800" cy="2571750"/>
          </a:xfrm>
          <a:prstGeom prst="rect">
            <a:avLst/>
          </a:prstGeom>
        </p:spPr>
      </p:pic>
      <p:sp>
        <p:nvSpPr>
          <p:cNvPr id="28" name="Shape 25"/>
          <p:cNvSpPr/>
          <p:nvPr/>
        </p:nvSpPr>
        <p:spPr>
          <a:xfrm>
            <a:off x="1557251" y="5406390"/>
            <a:ext cx="4754880" cy="118872"/>
          </a:xfrm>
          <a:prstGeom prst="roundRect">
            <a:avLst>
              <a:gd name="adj" fmla="val 38462"/>
            </a:avLst>
          </a:prstGeom>
          <a:solidFill>
            <a:srgbClr val="CBD5E1"/>
          </a:solidFill>
          <a:ln/>
        </p:spPr>
      </p:sp>
      <p:sp>
        <p:nvSpPr>
          <p:cNvPr id="29" name="Text 26"/>
          <p:cNvSpPr/>
          <p:nvPr/>
        </p:nvSpPr>
        <p:spPr>
          <a:xfrm>
            <a:off x="1602971" y="6025896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ICT — dasbor peminjaman</a:t>
            </a:r>
            <a:endParaRPr lang="en-US" sz="1200" dirty="0"/>
          </a:p>
        </p:txBody>
      </p:sp>
      <p:sp>
        <p:nvSpPr>
          <p:cNvPr id="30" name="Shape 27"/>
          <p:cNvSpPr/>
          <p:nvPr/>
        </p:nvSpPr>
        <p:spPr>
          <a:xfrm>
            <a:off x="6403571" y="2606040"/>
            <a:ext cx="2241926" cy="3145536"/>
          </a:xfrm>
          <a:prstGeom prst="roundRect">
            <a:avLst>
              <a:gd name="adj" fmla="val 5710"/>
            </a:avLst>
          </a:prstGeom>
          <a:solidFill>
            <a:srgbClr val="1E293B"/>
          </a:solidFill>
          <a:ln/>
          <a:effectLst>
            <a:outerShdw sx="100000" sy="100000" kx="0" ky="0" algn="bl" rotWithShape="0" blurRad="177800" dist="63500" dir="5400000">
              <a:srgbClr val="000000">
                <a:alpha val="28000"/>
              </a:srgbClr>
            </a:outerShdw>
          </a:effectLst>
        </p:spPr>
      </p:sp>
      <p:pic>
        <p:nvPicPr>
          <p:cNvPr id="31" name="Image 1" descr="img/tablet-loan-detail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5011" y="2697480"/>
            <a:ext cx="2059046" cy="2962656"/>
          </a:xfrm>
          <a:prstGeom prst="rect">
            <a:avLst/>
          </a:prstGeom>
        </p:spPr>
      </p:pic>
      <p:sp>
        <p:nvSpPr>
          <p:cNvPr id="32" name="Text 28"/>
          <p:cNvSpPr/>
          <p:nvPr/>
        </p:nvSpPr>
        <p:spPr>
          <a:xfrm>
            <a:off x="6312131" y="6025896"/>
            <a:ext cx="242480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ICT — konfirmasi &amp; pilih unit</a:t>
            </a:r>
            <a:endParaRPr lang="en-US" sz="1200" dirty="0"/>
          </a:p>
        </p:txBody>
      </p:sp>
      <p:sp>
        <p:nvSpPr>
          <p:cNvPr id="33" name="Shape 29"/>
          <p:cNvSpPr/>
          <p:nvPr/>
        </p:nvSpPr>
        <p:spPr>
          <a:xfrm>
            <a:off x="8974681" y="2752344"/>
            <a:ext cx="1419277" cy="2880360"/>
          </a:xfrm>
          <a:prstGeom prst="roundRect">
            <a:avLst>
              <a:gd name="adj" fmla="val 12885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77800" dist="63500" dir="5400000">
              <a:srgbClr val="000000">
                <a:alpha val="28000"/>
              </a:srgbClr>
            </a:outerShdw>
          </a:effectLst>
        </p:spPr>
      </p:sp>
      <p:pic>
        <p:nvPicPr>
          <p:cNvPr id="34" name="Image 2" descr="img/phone-borrow-dialog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56977" y="2834640"/>
            <a:ext cx="1254685" cy="2715768"/>
          </a:xfrm>
          <a:prstGeom prst="rect">
            <a:avLst/>
          </a:prstGeom>
        </p:spPr>
      </p:pic>
      <p:sp>
        <p:nvSpPr>
          <p:cNvPr id="35" name="Text 30"/>
          <p:cNvSpPr/>
          <p:nvPr/>
        </p:nvSpPr>
        <p:spPr>
          <a:xfrm>
            <a:off x="8782657" y="6025896"/>
            <a:ext cx="180332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Guru — ajukan dari HP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· Jadwal cart &amp; lab, serta label QR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655624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YPJ Assets  ·  UAT &amp; Pengenalan Aplikasi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669280" y="6556248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pada tampilan adalah data demo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155680" y="6556248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48640" y="1645920"/>
            <a:ext cx="411480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Kalender mingguan per jam pelajaran: hijau = tersedia, merah = penuh</a:t>
            </a:r>
            <a:endParaRPr lang="en-US" sz="150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Jadwal kelas tetap selalu didahulukan; guru bisa meminta slot kosong</a:t>
            </a:r>
            <a:endParaRPr lang="en-US" sz="150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Serah terima satu cart sekaligus: pengecualian dicatat + satu foto bersama</a:t>
            </a:r>
            <a:endParaRPr lang="en-US" sz="150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 QR pada setiap aset: pindai di HP → langsung ke serah terima / pengembalian</a:t>
            </a:r>
            <a:endParaRPr lang="en-US" sz="150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Kamera tidak tersedia? Ketik kode aset (mis. YPJ-KAM-005)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672584" y="1517904"/>
            <a:ext cx="4645152" cy="2964942"/>
          </a:xfrm>
          <a:prstGeom prst="roundRect">
            <a:avLst>
              <a:gd name="adj" fmla="val 2159"/>
            </a:avLst>
          </a:prstGeom>
          <a:solidFill>
            <a:srgbClr val="1E293B"/>
          </a:solidFill>
          <a:ln/>
          <a:effectLst>
            <a:outerShdw sx="100000" sy="100000" kx="0" ky="0" algn="bl" rotWithShape="0" blurRad="177800" dist="63500" dir="5400000">
              <a:srgbClr val="000000">
                <a:alpha val="28000"/>
              </a:srgbClr>
            </a:outerShdw>
          </a:effectLst>
        </p:spPr>
      </p:sp>
      <p:pic>
        <p:nvPicPr>
          <p:cNvPr id="10" name="Image 0" descr="img/laptop-schedule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54880" y="1600200"/>
            <a:ext cx="4480560" cy="280035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4434840" y="4491990"/>
            <a:ext cx="5120640" cy="118872"/>
          </a:xfrm>
          <a:prstGeom prst="roundRect">
            <a:avLst>
              <a:gd name="adj" fmla="val 38462"/>
            </a:avLst>
          </a:prstGeom>
          <a:solidFill>
            <a:srgbClr val="CBD5E1"/>
          </a:solidFill>
          <a:ln/>
        </p:spPr>
      </p:sp>
      <p:sp>
        <p:nvSpPr>
          <p:cNvPr id="12" name="Shape 9"/>
          <p:cNvSpPr/>
          <p:nvPr/>
        </p:nvSpPr>
        <p:spPr>
          <a:xfrm>
            <a:off x="9701784" y="1655064"/>
            <a:ext cx="1685422" cy="3456432"/>
          </a:xfrm>
          <a:prstGeom prst="roundRect">
            <a:avLst>
              <a:gd name="adj" fmla="val 10851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77800" dist="63500" dir="5400000">
              <a:srgbClr val="000000">
                <a:alpha val="28000"/>
              </a:srgbClr>
            </a:outerShdw>
          </a:effectLst>
        </p:spPr>
      </p:sp>
      <p:pic>
        <p:nvPicPr>
          <p:cNvPr id="13" name="Image 1" descr="img/phone-scan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0" y="1737360"/>
            <a:ext cx="1520830" cy="329184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480560" y="539496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Laptop — kalender cart &amp; lab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9418320" y="539496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HP — Scan QR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· BYOD siswa: persetujuan tiga pihak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655624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YPJ Assets  ·  UAT &amp; Pengenalan Aplikasi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669280" y="6556248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pada tampilan adalah data demo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155680" y="6556248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48640" y="1600200"/>
            <a:ext cx="420624" cy="420624"/>
          </a:xfrm>
          <a:prstGeom prst="ellipse">
            <a:avLst/>
          </a:prstGeom>
          <a:solidFill>
            <a:srgbClr val="0B1220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16002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143000" y="1563624"/>
            <a:ext cx="338328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Guru membuat project BYOD</a:t>
            </a:r>
            <a:endParaRPr lang="en-US" sz="1500" dirty="0"/>
          </a:p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Periode (maks. ± 3 bulan), jam, dan daftar siswa + kontak orang tua.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758952" y="2057400"/>
            <a:ext cx="0" cy="283464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48640" y="2386584"/>
            <a:ext cx="420624" cy="420624"/>
          </a:xfrm>
          <a:prstGeom prst="ellipse">
            <a:avLst/>
          </a:prstGeom>
          <a:solidFill>
            <a:srgbClr val="0B1220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238658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143000" y="2350008"/>
            <a:ext cx="338328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Orang tua menerima tautan sekali pakai</a:t>
            </a:r>
            <a:endParaRPr lang="en-US" sz="1500" dirty="0"/>
          </a:p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Berlaku 7 hari, tanpa akun: isi perangkat &amp; MAC, tanda tangan jari.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758952" y="2843784"/>
            <a:ext cx="0" cy="283464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" y="3172968"/>
            <a:ext cx="420624" cy="420624"/>
          </a:xfrm>
          <a:prstGeom prst="ellipse">
            <a:avLst/>
          </a:prstGeom>
          <a:solidFill>
            <a:srgbClr val="0B1220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317296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143000" y="3136392"/>
            <a:ext cx="338328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Guru menandatangani di aplikasi</a:t>
            </a:r>
            <a:endParaRPr lang="en-US" sz="1500" dirty="0"/>
          </a:p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Ketik nama dan gambar tanda tangan.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758952" y="3630168"/>
            <a:ext cx="0" cy="283464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48640" y="3959352"/>
            <a:ext cx="420624" cy="420624"/>
          </a:xfrm>
          <a:prstGeom prst="ellipse">
            <a:avLst/>
          </a:prstGeom>
          <a:solidFill>
            <a:srgbClr val="0B1220"/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" y="395935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143000" y="3922776"/>
            <a:ext cx="338328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ICT memeriksa &amp; memutuskan</a:t>
            </a:r>
            <a:endParaRPr lang="en-US" sz="1500" dirty="0"/>
          </a:p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Dapat mengoreksi MAC; setujui atau tolak.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758952" y="4416552"/>
            <a:ext cx="0" cy="283464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48640" y="4745736"/>
            <a:ext cx="420624" cy="420624"/>
          </a:xfrm>
          <a:prstGeom prst="ellipse">
            <a:avLst/>
          </a:prstGeom>
          <a:solidFill>
            <a:srgbClr val="0B1220"/>
          </a:solidFill>
          <a:ln/>
        </p:spPr>
      </p:sp>
      <p:sp>
        <p:nvSpPr>
          <p:cNvPr id="25" name="Text 23"/>
          <p:cNvSpPr/>
          <p:nvPr/>
        </p:nvSpPr>
        <p:spPr>
          <a:xfrm>
            <a:off x="548640" y="474573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1143000" y="4709160"/>
            <a:ext cx="338328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Akses WiFi aktif sampai periode berakhir</a:t>
            </a:r>
            <a:endParaRPr lang="en-US" sz="1500" dirty="0"/>
          </a:p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Dapat dicabut kapan saja; pengingat H-3.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4672584" y="1517904"/>
            <a:ext cx="4645152" cy="2964942"/>
          </a:xfrm>
          <a:prstGeom prst="roundRect">
            <a:avLst>
              <a:gd name="adj" fmla="val 2159"/>
            </a:avLst>
          </a:prstGeom>
          <a:solidFill>
            <a:srgbClr val="1E293B"/>
          </a:solidFill>
          <a:ln/>
          <a:effectLst>
            <a:outerShdw sx="100000" sy="100000" kx="0" ky="0" algn="bl" rotWithShape="0" blurRad="177800" dist="63500" dir="5400000">
              <a:srgbClr val="000000">
                <a:alpha val="28000"/>
              </a:srgbClr>
            </a:outerShdw>
          </a:effectLst>
        </p:spPr>
      </p:sp>
      <p:pic>
        <p:nvPicPr>
          <p:cNvPr id="28" name="Image 0" descr="img/laptop-byod-detail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54880" y="1600200"/>
            <a:ext cx="4480560" cy="2800350"/>
          </a:xfrm>
          <a:prstGeom prst="rect">
            <a:avLst/>
          </a:prstGeom>
        </p:spPr>
      </p:pic>
      <p:sp>
        <p:nvSpPr>
          <p:cNvPr id="29" name="Shape 26"/>
          <p:cNvSpPr/>
          <p:nvPr/>
        </p:nvSpPr>
        <p:spPr>
          <a:xfrm>
            <a:off x="4434840" y="4491990"/>
            <a:ext cx="5120640" cy="118872"/>
          </a:xfrm>
          <a:prstGeom prst="roundRect">
            <a:avLst>
              <a:gd name="adj" fmla="val 38462"/>
            </a:avLst>
          </a:prstGeom>
          <a:solidFill>
            <a:srgbClr val="CBD5E1"/>
          </a:solidFill>
          <a:ln/>
        </p:spPr>
      </p:sp>
      <p:sp>
        <p:nvSpPr>
          <p:cNvPr id="30" name="Shape 27"/>
          <p:cNvSpPr/>
          <p:nvPr/>
        </p:nvSpPr>
        <p:spPr>
          <a:xfrm>
            <a:off x="9701784" y="1655064"/>
            <a:ext cx="1685422" cy="3456432"/>
          </a:xfrm>
          <a:prstGeom prst="roundRect">
            <a:avLst>
              <a:gd name="adj" fmla="val 10851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77800" dist="63500" dir="5400000">
              <a:srgbClr val="000000">
                <a:alpha val="28000"/>
              </a:srgbClr>
            </a:outerShdw>
          </a:effectLst>
        </p:spPr>
      </p:sp>
      <p:pic>
        <p:nvPicPr>
          <p:cNvPr id="31" name="Image 1" descr="img/phone-byod-sign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0" y="1737360"/>
            <a:ext cx="1520830" cy="3291840"/>
          </a:xfrm>
          <a:prstGeom prst="rect">
            <a:avLst/>
          </a:prstGeom>
        </p:spPr>
      </p:pic>
      <p:sp>
        <p:nvSpPr>
          <p:cNvPr id="32" name="Text 28"/>
          <p:cNvSpPr/>
          <p:nvPr/>
        </p:nvSpPr>
        <p:spPr>
          <a:xfrm>
            <a:off x="4480560" y="539496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Laptop — ICT melihat alur persetujuan</a:t>
            </a:r>
            <a:endParaRPr lang="en-US" sz="1200" dirty="0"/>
          </a:p>
        </p:txBody>
      </p:sp>
      <p:sp>
        <p:nvSpPr>
          <p:cNvPr id="33" name="Text 29"/>
          <p:cNvSpPr/>
          <p:nvPr/>
        </p:nvSpPr>
        <p:spPr>
          <a:xfrm>
            <a:off x="9418320" y="539496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HP — orang tua menandatangani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· Pimpinan: pantau tanpa mengubah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655624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YPJ Assets  ·  UAT &amp; Pengenalan Aplikasi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669280" y="6556248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pada tampilan adalah data demo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155680" y="6556248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48640" y="1645920"/>
            <a:ext cx="411480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Dasbor: jumlah aset, nilai buku, akumulasi penyusutan, kerusakan terbuka</a:t>
            </a:r>
            <a:endParaRPr lang="en-US" sz="150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Peringatan garansi dan inspeksi yang akan jatuh tempo</a:t>
            </a:r>
            <a:endParaRPr lang="en-US" sz="150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Laporan siap unduh (Excel): inventaris, penyusutan, aset habis disusutkan, kerusakan, kepatuhan, riwayat kepemilikan</a:t>
            </a:r>
            <a:endParaRPr lang="en-US" sz="150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Laporan peminjaman &amp; insiden per kampus</a:t>
            </a:r>
            <a:endParaRPr lang="en-US" sz="150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Akun Leader hanya-lihat — aman dari perubahan tidak sengaja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672584" y="1517904"/>
            <a:ext cx="4645152" cy="2964942"/>
          </a:xfrm>
          <a:prstGeom prst="roundRect">
            <a:avLst>
              <a:gd name="adj" fmla="val 2159"/>
            </a:avLst>
          </a:prstGeom>
          <a:solidFill>
            <a:srgbClr val="1E293B"/>
          </a:solidFill>
          <a:ln/>
          <a:effectLst>
            <a:outerShdw sx="100000" sy="100000" kx="0" ky="0" algn="bl" rotWithShape="0" blurRad="177800" dist="63500" dir="5400000">
              <a:srgbClr val="000000">
                <a:alpha val="28000"/>
              </a:srgbClr>
            </a:outerShdw>
          </a:effectLst>
        </p:spPr>
      </p:sp>
      <p:pic>
        <p:nvPicPr>
          <p:cNvPr id="10" name="Image 0" descr="img/laptop-lead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54880" y="1600200"/>
            <a:ext cx="4480560" cy="280035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4434840" y="4491990"/>
            <a:ext cx="5120640" cy="118872"/>
          </a:xfrm>
          <a:prstGeom prst="roundRect">
            <a:avLst>
              <a:gd name="adj" fmla="val 38462"/>
            </a:avLst>
          </a:prstGeom>
          <a:solidFill>
            <a:srgbClr val="CBD5E1"/>
          </a:solidFill>
          <a:ln/>
        </p:spPr>
      </p:sp>
      <p:sp>
        <p:nvSpPr>
          <p:cNvPr id="12" name="Shape 9"/>
          <p:cNvSpPr/>
          <p:nvPr/>
        </p:nvSpPr>
        <p:spPr>
          <a:xfrm>
            <a:off x="9692640" y="1508760"/>
            <a:ext cx="2343607" cy="3291840"/>
          </a:xfrm>
          <a:prstGeom prst="roundRect">
            <a:avLst>
              <a:gd name="adj" fmla="val 5462"/>
            </a:avLst>
          </a:prstGeom>
          <a:solidFill>
            <a:srgbClr val="1E293B"/>
          </a:solidFill>
          <a:ln/>
          <a:effectLst>
            <a:outerShdw sx="100000" sy="100000" kx="0" ky="0" algn="bl" rotWithShape="0" blurRad="177800" dist="63500" dir="5400000">
              <a:srgbClr val="000000">
                <a:alpha val="28000"/>
              </a:srgbClr>
            </a:outerShdw>
          </a:effectLst>
        </p:spPr>
      </p:sp>
      <p:pic>
        <p:nvPicPr>
          <p:cNvPr id="13" name="Image 1" descr="img/tablet-reports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0" y="1600200"/>
            <a:ext cx="2160727" cy="310896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480560" y="539496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Laptop — dasbor pimpinan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9418320" y="539496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Tablet — pusat laporan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RESPONSIF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Halaman yang sama, menyesuaikan perangkat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655624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YPJ Assets  ·  UAT &amp; Pengenalan Aplikasi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669280" y="6556248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pada tampilan adalah data demo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155680" y="6556248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48640" y="11887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Daftar &amp; detail aset di laptop, tablet, dan HP — informasi tetap lengkap, tata letak menyesuaikan.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887063" y="1883664"/>
            <a:ext cx="5285232" cy="3364992"/>
          </a:xfrm>
          <a:prstGeom prst="roundRect">
            <a:avLst>
              <a:gd name="adj" fmla="val 1902"/>
            </a:avLst>
          </a:prstGeom>
          <a:solidFill>
            <a:srgbClr val="1E293B"/>
          </a:solidFill>
          <a:ln/>
          <a:effectLst>
            <a:outerShdw sx="100000" sy="100000" kx="0" ky="0" algn="bl" rotWithShape="0" blurRad="177800" dist="63500" dir="5400000">
              <a:srgbClr val="000000">
                <a:alpha val="28000"/>
              </a:srgbClr>
            </a:outerShdw>
          </a:effectLst>
        </p:spPr>
      </p:sp>
      <p:pic>
        <p:nvPicPr>
          <p:cNvPr id="10" name="Image 0" descr="img/laptop-assetdetail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9359" y="1965960"/>
            <a:ext cx="5120640" cy="320040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649319" y="5257800"/>
            <a:ext cx="5760720" cy="118872"/>
          </a:xfrm>
          <a:prstGeom prst="roundRect">
            <a:avLst>
              <a:gd name="adj" fmla="val 38462"/>
            </a:avLst>
          </a:prstGeom>
          <a:solidFill>
            <a:srgbClr val="CBD5E1"/>
          </a:solidFill>
          <a:ln/>
        </p:spPr>
      </p:sp>
      <p:sp>
        <p:nvSpPr>
          <p:cNvPr id="12" name="Text 9"/>
          <p:cNvSpPr/>
          <p:nvPr/>
        </p:nvSpPr>
        <p:spPr>
          <a:xfrm>
            <a:off x="695039" y="5972861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Laptop — detail aset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6501479" y="1828800"/>
            <a:ext cx="2745248" cy="3869741"/>
          </a:xfrm>
          <a:prstGeom prst="roundRect">
            <a:avLst>
              <a:gd name="adj" fmla="val 4663"/>
            </a:avLst>
          </a:prstGeom>
          <a:solidFill>
            <a:srgbClr val="1E293B"/>
          </a:solidFill>
          <a:ln/>
          <a:effectLst>
            <a:outerShdw sx="100000" sy="100000" kx="0" ky="0" algn="bl" rotWithShape="0" blurRad="177800" dist="63500" dir="5400000">
              <a:srgbClr val="000000">
                <a:alpha val="28000"/>
              </a:srgbClr>
            </a:outerShdw>
          </a:effectLst>
        </p:spPr>
      </p:sp>
      <p:pic>
        <p:nvPicPr>
          <p:cNvPr id="14" name="Image 1" descr="img/tablet-assetdetail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2919" y="1920240"/>
            <a:ext cx="2562368" cy="3686861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6410039" y="5972861"/>
            <a:ext cx="2928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Tablet — detail aset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9575911" y="1975104"/>
            <a:ext cx="1725978" cy="3544214"/>
          </a:xfrm>
          <a:prstGeom prst="roundRect">
            <a:avLst>
              <a:gd name="adj" fmla="val 10596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77800" dist="63500" dir="5400000">
              <a:srgbClr val="000000">
                <a:alpha val="28000"/>
              </a:srgbClr>
            </a:outerShdw>
          </a:effectLst>
        </p:spPr>
      </p:sp>
      <p:pic>
        <p:nvPicPr>
          <p:cNvPr id="17" name="Image 2" descr="img/phone-assetdetail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58207" y="2057400"/>
            <a:ext cx="1561386" cy="337962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9383887" y="5972861"/>
            <a:ext cx="211002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HP — detail aset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RENCANA PENGUJIAN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Skenario UAT yang diusulkan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655624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YPJ Assets  ·  UAT &amp; Pengenalan Aplikasi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669280" y="6556248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pada tampilan adalah data demo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155680" y="6556248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64240" cy="914400"/>
        </p:xfrm>
        <a:graphic>
          <a:graphicData uri="http://schemas.openxmlformats.org/drawingml/2006/table">
            <a:tbl>
              <a:tblPr/>
              <a:tblGrid>
                <a:gridCol w="640080"/>
                <a:gridCol w="3657600"/>
                <a:gridCol w="1554480"/>
                <a:gridCol w="1325880"/>
                <a:gridCol w="3200400"/>
                <a:gridCol w="685800"/>
              </a:tblGrid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Skenario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Pelaku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Perangkat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Hasil yang diharapkan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Lulus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B453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U-01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Login pertama &amp; tanda tangan kebijakan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Guru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HP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Akses terbuka; tanda tangan tercatat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☐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B453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U-02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Daftarkan aset baru lengkap dengan foto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Admin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Laptop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Aset tampil; nilai buku terhitung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☐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B453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U-03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Alihkan aset ke guru &amp; konfirmasi terima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Admin, Guru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Laptop, HP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Pemilik berpindah; jejak tersimpan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☐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B453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U-04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Laporkan &amp; selesaikan kerusakan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Admin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Tablet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 berubah sampai selesai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☐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B453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U-05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Pinjam 2 laptop; ICT memilih unit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Guru, ICT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HP, Laptop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Unit terkunci; email keputusan terkirim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☐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B453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U-06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Serah terima &amp; pengembalian via QR + foto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ICT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HP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 Dipinjam → Selesai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☐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B453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U-07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Pesan slot cart/lab di luar jadwal tetap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Guru, ICT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Tablet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Slot terpakai; tanpa bentrok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☐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B453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U-08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BYOD: orang tua → guru → ICT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Ortu, Guru, ICT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HP, Laptop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Disetujui; MAC terdaftar sekali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☐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B453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U-09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Unduh laporan &amp; lihat dasbor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Pimpinan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Tablet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sesuai; tidak bisa mengubah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☐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B453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U-10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Ganti bahasa ID/EN &amp; kampus berbeda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Semua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Semua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hanya sesuai kampus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☐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548640" y="598932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Kolom "Lulus" diisi penguji pada saat UAT. Skenario dapat ditambah sesuai masukan pimpinan.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KESIAPAN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Kesiapan teknis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655624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YPJ Assets  ·  UAT &amp; Pengenalan Aplikasi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669280" y="6556248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pada tampilan adalah data demo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155680" y="6556248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48640" y="1463040"/>
            <a:ext cx="2651760" cy="1737360"/>
          </a:xfrm>
          <a:prstGeom prst="rect">
            <a:avLst/>
          </a:prstGeom>
          <a:solidFill>
            <a:srgbClr val="0B1220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155448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71</a:t>
            </a:r>
            <a:endParaRPr lang="en-US" sz="4800" dirty="0"/>
          </a:p>
        </p:txBody>
      </p:sp>
      <p:sp>
        <p:nvSpPr>
          <p:cNvPr id="10" name="Text 8"/>
          <p:cNvSpPr/>
          <p:nvPr/>
        </p:nvSpPr>
        <p:spPr>
          <a:xfrm>
            <a:off x="731520" y="233172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 otomatis backend lulus (peminjaman, BYOD, peran &amp; kampus, kebijakan)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3355848" y="1463040"/>
            <a:ext cx="2651760" cy="1737360"/>
          </a:xfrm>
          <a:prstGeom prst="rect">
            <a:avLst/>
          </a:prstGeom>
          <a:solidFill>
            <a:srgbClr val="0B1220"/>
          </a:solidFill>
          <a:ln/>
        </p:spPr>
      </p:sp>
      <p:sp>
        <p:nvSpPr>
          <p:cNvPr id="12" name="Text 10"/>
          <p:cNvSpPr/>
          <p:nvPr/>
        </p:nvSpPr>
        <p:spPr>
          <a:xfrm>
            <a:off x="3538728" y="155448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4800" dirty="0"/>
          </a:p>
        </p:txBody>
      </p:sp>
      <p:sp>
        <p:nvSpPr>
          <p:cNvPr id="13" name="Text 11"/>
          <p:cNvSpPr/>
          <p:nvPr/>
        </p:nvSpPr>
        <p:spPr>
          <a:xfrm>
            <a:off x="3538728" y="233172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peran dengan hak akses berbeda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163056" y="1463040"/>
            <a:ext cx="2651760" cy="1737360"/>
          </a:xfrm>
          <a:prstGeom prst="rect">
            <a:avLst/>
          </a:prstGeom>
          <a:solidFill>
            <a:srgbClr val="0B1220"/>
          </a:solidFill>
          <a:ln/>
        </p:spPr>
      </p:sp>
      <p:sp>
        <p:nvSpPr>
          <p:cNvPr id="15" name="Text 13"/>
          <p:cNvSpPr/>
          <p:nvPr/>
        </p:nvSpPr>
        <p:spPr>
          <a:xfrm>
            <a:off x="6345936" y="155448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4800" dirty="0"/>
          </a:p>
        </p:txBody>
      </p:sp>
      <p:sp>
        <p:nvSpPr>
          <p:cNvPr id="16" name="Text 14"/>
          <p:cNvSpPr/>
          <p:nvPr/>
        </p:nvSpPr>
        <p:spPr>
          <a:xfrm>
            <a:off x="6345936" y="233172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jenis perangkat: laptop, tablet, HP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8970264" y="1463040"/>
            <a:ext cx="2651760" cy="1737360"/>
          </a:xfrm>
          <a:prstGeom prst="rect">
            <a:avLst/>
          </a:prstGeom>
          <a:solidFill>
            <a:srgbClr val="0B1220"/>
          </a:solidFill>
          <a:ln/>
        </p:spPr>
      </p:sp>
      <p:sp>
        <p:nvSpPr>
          <p:cNvPr id="18" name="Text 16"/>
          <p:cNvSpPr/>
          <p:nvPr/>
        </p:nvSpPr>
        <p:spPr>
          <a:xfrm>
            <a:off x="9153144" y="155448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4800" dirty="0"/>
          </a:p>
        </p:txBody>
      </p:sp>
      <p:sp>
        <p:nvSpPr>
          <p:cNvPr id="19" name="Text 17"/>
          <p:cNvSpPr/>
          <p:nvPr/>
        </p:nvSpPr>
        <p:spPr>
          <a:xfrm>
            <a:off x="9153144" y="233172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kampus: YPJ Kuala Kencana &amp; YPJ TPRA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548640" y="352044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Kendali &amp; akuntabilitas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548640" y="3977640"/>
            <a:ext cx="530352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Akses berbasis peran &amp; kampus; Leader hanya-lihat</a:t>
            </a:r>
            <a:endParaRPr lang="en-US" sz="140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Tanda tangan elektronik: waktu, versi kebijakan, perangkat</a:t>
            </a:r>
            <a:endParaRPr lang="en-US" sz="140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aktivitas setiap tindakan penting</a:t>
            </a:r>
            <a:endParaRPr lang="en-US" sz="140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Pencadangan data tersedia untuk Admin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309360" y="352044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Kualitas pengalaman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6309360" y="3977640"/>
            <a:ext cx="530352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Foto kondisi otomatis dikecilkan (≤ 50 KB) agar ringan</a:t>
            </a:r>
            <a:endParaRPr lang="en-US" sz="140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notifikasi di setiap tahap persetujuan</a:t>
            </a:r>
            <a:endParaRPr lang="en-US" sz="140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Bahasa Indonesia &amp; English</a:t>
            </a:r>
            <a:endParaRPr lang="en-US" sz="140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Tanpa instalasi — cukup browser</a:t>
            </a:r>
            <a:endParaRPr lang="en-US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LANGKAH BERIKUTNYA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Rencana UAT &amp; keputusan yang dimohon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655624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YPJ Assets  ·  UAT &amp; Pengenalan Aplikasi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669280" y="6556248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pada tampilan adalah data demo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155680" y="6556248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48640" y="14173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Usulan alur UAT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548640" y="1965960"/>
            <a:ext cx="420624" cy="420624"/>
          </a:xfrm>
          <a:prstGeom prst="ellipse">
            <a:avLst/>
          </a:prstGeom>
          <a:solidFill>
            <a:srgbClr val="0B1220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19659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143000" y="1929384"/>
            <a:ext cx="4800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Persiapan</a:t>
            </a:r>
            <a:endParaRPr lang="en-US" sz="1500" dirty="0"/>
          </a:p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Akun penguji per peran &amp; per kampus, data uji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758952" y="2423160"/>
            <a:ext cx="0" cy="50292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48640" y="2971800"/>
            <a:ext cx="420624" cy="420624"/>
          </a:xfrm>
          <a:prstGeom prst="ellipse">
            <a:avLst/>
          </a:prstGeom>
          <a:solidFill>
            <a:srgbClr val="0B1220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29718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143000" y="2935224"/>
            <a:ext cx="4800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 UAT per peran</a:t>
            </a:r>
            <a:endParaRPr lang="en-US" sz="1500" dirty="0"/>
          </a:p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Admin, ICT, Guru, Pimpinan mengerjakan skenario U-01 s.d. U-10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758952" y="3429000"/>
            <a:ext cx="0" cy="50292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3977640"/>
            <a:ext cx="420624" cy="420624"/>
          </a:xfrm>
          <a:prstGeom prst="ellipse">
            <a:avLst/>
          </a:prstGeom>
          <a:solidFill>
            <a:srgbClr val="0B1220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397764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143000" y="3941064"/>
            <a:ext cx="4800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Perbaikan &amp; uji ulang</a:t>
            </a:r>
            <a:endParaRPr lang="en-US" sz="1500" dirty="0"/>
          </a:p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Catatan temuan dikelompokkan: kritis, penting, minor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758952" y="4434840"/>
            <a:ext cx="0" cy="50292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48640" y="4983480"/>
            <a:ext cx="420624" cy="420624"/>
          </a:xfrm>
          <a:prstGeom prst="ellipse">
            <a:avLst/>
          </a:prstGeom>
          <a:solidFill>
            <a:srgbClr val="0B1220"/>
          </a:solidFill>
          <a:ln/>
        </p:spPr>
      </p:sp>
      <p:sp>
        <p:nvSpPr>
          <p:cNvPr id="22" name="Text 20"/>
          <p:cNvSpPr/>
          <p:nvPr/>
        </p:nvSpPr>
        <p:spPr>
          <a:xfrm>
            <a:off x="548640" y="49834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143000" y="4946904"/>
            <a:ext cx="4800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Penetapan penerimaan</a:t>
            </a:r>
            <a:endParaRPr lang="en-US" sz="1500" dirty="0"/>
          </a:p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Pimpinan menandatangani berita acara UAT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6492240" y="1417320"/>
            <a:ext cx="5120640" cy="4663440"/>
          </a:xfrm>
          <a:prstGeom prst="roundRect">
            <a:avLst>
              <a:gd name="adj" fmla="val 1961"/>
            </a:avLst>
          </a:prstGeom>
          <a:solidFill>
            <a:srgbClr val="0B1220"/>
          </a:solidFill>
          <a:ln/>
        </p:spPr>
      </p:sp>
      <p:sp>
        <p:nvSpPr>
          <p:cNvPr id="25" name="Text 23"/>
          <p:cNvSpPr/>
          <p:nvPr/>
        </p:nvSpPr>
        <p:spPr>
          <a:xfrm>
            <a:off x="6766560" y="16459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Keputusan yang kami mohon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6766560" y="2194560"/>
            <a:ext cx="457200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Menunjuk penanggung jawab UAT di tiap kampus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Menyetujui jadwal pelaksanaan UAT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Menetapkan kriteria penerimaan (mis. seluruh skenario kritis lulus)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Mengonfirmasi Admin ICT per kampus dan daftar pengguna awal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Menentukan tanggal target penggunaan resmi</a:t>
            </a:r>
            <a:endParaRPr lang="en-US" sz="15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BBF24"/>
          </a:solidFill>
          <a:ln/>
        </p:spPr>
      </p:sp>
      <p:pic>
        <p:nvPicPr>
          <p:cNvPr id="3" name="Image 0" descr="img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640080"/>
            <a:ext cx="822960" cy="8229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1520" y="228600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Terima kasih</a:t>
            </a:r>
            <a:endParaRPr lang="en-US" sz="5400" dirty="0"/>
          </a:p>
        </p:txBody>
      </p:sp>
      <p:sp>
        <p:nvSpPr>
          <p:cNvPr id="5" name="Text 2"/>
          <p:cNvSpPr/>
          <p:nvPr/>
        </p:nvSpPr>
        <p:spPr>
          <a:xfrm>
            <a:off x="731520" y="32918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Tanya jawab &amp; demo langsung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731520" y="51206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YPJ Assets  ·  Yayasan Pendidikan Jayawijaya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9610344" y="1197864"/>
            <a:ext cx="1938894" cy="4005072"/>
          </a:xfrm>
          <a:prstGeom prst="roundRect">
            <a:avLst>
              <a:gd name="adj" fmla="val 9432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77800" dist="63500" dir="5400000">
              <a:srgbClr val="000000">
                <a:alpha val="28000"/>
              </a:srgbClr>
            </a:outerShdw>
          </a:effectLst>
        </p:spPr>
      </p:sp>
      <p:pic>
        <p:nvPicPr>
          <p:cNvPr id="8" name="Image 1" descr="img/phone-dash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92640" y="1280160"/>
            <a:ext cx="1774302" cy="384048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7223760" y="3291840"/>
            <a:ext cx="2089404" cy="2926080"/>
          </a:xfrm>
          <a:prstGeom prst="roundRect">
            <a:avLst>
              <a:gd name="adj" fmla="val 6127"/>
            </a:avLst>
          </a:prstGeom>
          <a:solidFill>
            <a:srgbClr val="1E293B"/>
          </a:solidFill>
          <a:ln/>
          <a:effectLst>
            <a:outerShdw sx="100000" sy="100000" kx="0" ky="0" algn="bl" rotWithShape="0" blurRad="177800" dist="63500" dir="5400000">
              <a:srgbClr val="000000">
                <a:alpha val="28000"/>
              </a:srgbClr>
            </a:outerShdw>
          </a:effectLst>
        </p:spPr>
      </p:sp>
      <p:pic>
        <p:nvPicPr>
          <p:cNvPr id="10" name="Image 2" descr="img/tablet-loans-ict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0" y="3383280"/>
            <a:ext cx="1906524" cy="27432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YPJ Assets — UAT &amp; Pengenalan Aplikasi</dc:title>
  <dc:subject>PptxGenJS Presentation</dc:subject>
  <dc:creator>Tim ICT YPJ</dc:creator>
  <cp:lastModifiedBy>Tim ICT YPJ</cp:lastModifiedBy>
  <cp:revision>1</cp:revision>
  <dcterms:created xsi:type="dcterms:W3CDTF">2026-10-18T16:27:55Z</dcterms:created>
  <dcterms:modified xsi:type="dcterms:W3CDTF">2026-10-18T16:27:55Z</dcterms:modified>
</cp:coreProperties>
</file>